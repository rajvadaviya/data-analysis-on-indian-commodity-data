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8" r:id="rId1"/>
  </p:sldMasterIdLst>
  <p:notesMasterIdLst>
    <p:notesMasterId r:id="rId26"/>
  </p:notesMasterIdLst>
  <p:handoutMasterIdLst>
    <p:handoutMasterId r:id="rId27"/>
  </p:handoutMasterIdLst>
  <p:sldIdLst>
    <p:sldId id="256" r:id="rId2"/>
    <p:sldId id="257" r:id="rId3"/>
    <p:sldId id="258" r:id="rId4"/>
    <p:sldId id="259" r:id="rId5"/>
    <p:sldId id="260" r:id="rId6"/>
    <p:sldId id="261" r:id="rId7"/>
    <p:sldId id="262" r:id="rId8"/>
    <p:sldId id="263" r:id="rId9"/>
    <p:sldId id="264" r:id="rId10"/>
    <p:sldId id="285" r:id="rId11"/>
    <p:sldId id="281" r:id="rId12"/>
    <p:sldId id="267" r:id="rId13"/>
    <p:sldId id="286" r:id="rId14"/>
    <p:sldId id="282" r:id="rId15"/>
    <p:sldId id="270" r:id="rId16"/>
    <p:sldId id="287" r:id="rId17"/>
    <p:sldId id="283" r:id="rId18"/>
    <p:sldId id="273" r:id="rId19"/>
    <p:sldId id="288" r:id="rId20"/>
    <p:sldId id="284" r:id="rId21"/>
    <p:sldId id="277" r:id="rId22"/>
    <p:sldId id="278" r:id="rId23"/>
    <p:sldId id="279" r:id="rId24"/>
    <p:sldId id="280"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1AC0F9-825E-4F27-290D-3000B9B8348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A939B7F-DCDA-3F78-493E-96F4FC3EA48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759EEE3-96CB-474E-A789-0F1DF438DD17}" type="datetimeFigureOut">
              <a:rPr lang="en-US" smtClean="0"/>
              <a:t>4/7/2026</a:t>
            </a:fld>
            <a:endParaRPr lang="en-US"/>
          </a:p>
        </p:txBody>
      </p:sp>
      <p:sp>
        <p:nvSpPr>
          <p:cNvPr id="4" name="Footer Placeholder 3">
            <a:extLst>
              <a:ext uri="{FF2B5EF4-FFF2-40B4-BE49-F238E27FC236}">
                <a16:creationId xmlns:a16="http://schemas.microsoft.com/office/drawing/2014/main" id="{9878BA0D-81C3-E9BF-EAEB-D27024F3294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AD39107-DC2C-2AAB-6B02-9EEFE6E8170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B17619-B27B-46CA-92DA-72FDFAF9E779}" type="slidenum">
              <a:rPr lang="en-US" smtClean="0"/>
              <a:t>‹#›</a:t>
            </a:fld>
            <a:endParaRPr lang="en-US"/>
          </a:p>
        </p:txBody>
      </p:sp>
    </p:spTree>
    <p:extLst>
      <p:ext uri="{BB962C8B-B14F-4D97-AF65-F5344CB8AC3E}">
        <p14:creationId xmlns:p14="http://schemas.microsoft.com/office/powerpoint/2010/main" val="12614910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836579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everyone. Today, my partner Raj and I are excited to present our data analytics project on the Indian Commodity Market. We'd like to thank our internal guide, Prof. Rushika Patt, for her support throughout this process.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 the next 10 to 15 minutes, we will walk you through our project objectives, how we handled the data, and dive into four specific analytical problem statements we solved. We will wrap up with our core insights and future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Commodity trading is a massive economic indicator. Our project studies the historical behavior of major assets like Gold, Silver, and Crude Oil to understand how domestic and global events shape market prices over time.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main goal was to move beyond raw numbers. We wanted to assess historical price volatility, track temporal trends, and use visual storytelling to make complex market dynamics easy to interpret.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used a structured dataset sourced from public financial databases. It contains daily records detailing opening and closing prices, daily highs and lows, and the total volume of trades executed for various commodities.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analyzing, we had to clean the data. This meant handling missing values through interpolation to keep our time-series intact, dropping market holidays, and filtering out extreme reporting errors.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make analysis easier, we extracted 'Year' and 'Month' from the date strings. We also engineered new features, calculating the 'Price Range' and 'Daily Change' to better measure daily market volatility.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our data cleaned and transformed, we moved into the core analysis. We solved numerous problem statements, but today we will highlight four major ones that perfectly capture volume dynamics and price trajectories.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our first highlighted analysis—Problem 2—we wanted to find the total volume traded for each commodity. This tells us which assets have the highest liquidity and investor interest historically.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in Problem 5, we wanted to verify the balance of our dataset. We needed to count the total available records for each commodity to ensure no single asset was disproportionately represented.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Moving from volume to price, Problem 8 isolates Gold. We wanted to track its historical closing prices over the years to evaluate its reputation as a reliable, long-term safe-haven asset.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While Gold is interesting on its own, Problem 10 looks at the bigger picture. We wanted to plot the average closing price of *all* commodities on the same timeline to spot parallel behaviors and market shifts.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analysis proves that outlier years usually map directly to global economic events. When panic hits, precious metals spike. When economies boom, industrial metals rise with demand.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 is important to acknowledge our limitations. Our models rely purely on historical price action. We do not account for live geopolitical news, nor did we factor in the USD to INR currency fluctuations which play a major role in Indian markets.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future iterations, we recommend integrating real-time API feeds from the MCX, and utilizing Machine Learning algorithms like LSTM to actually forecast future prices based on these historical trends.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visualizing this data allows stakeholders to make highly informed entry and exit decisions based on historical realities. Thank you for your time. Raj and I would now be happy to answer any questions you might have.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3713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7549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22686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8983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43055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0578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3102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5838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34771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0860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60237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2128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65413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27873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85106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780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4/7/2026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79195169"/>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48148" y="660400"/>
            <a:ext cx="7772400" cy="1470025"/>
          </a:xfrm>
        </p:spPr>
        <p:txBody>
          <a:bodyPr/>
          <a:lstStyle/>
          <a:p>
            <a:r>
              <a:rPr dirty="0"/>
              <a:t>Data Analysis on Indian Commodity Market Data</a:t>
            </a:r>
          </a:p>
        </p:txBody>
      </p:sp>
      <p:sp>
        <p:nvSpPr>
          <p:cNvPr id="3" name="Subtitle 2"/>
          <p:cNvSpPr>
            <a:spLocks noGrp="1"/>
          </p:cNvSpPr>
          <p:nvPr>
            <p:ph type="subTitle" idx="1"/>
          </p:nvPr>
        </p:nvSpPr>
        <p:spPr>
          <a:xfrm>
            <a:off x="1027471" y="2971799"/>
            <a:ext cx="6400800" cy="3468329"/>
          </a:xfrm>
        </p:spPr>
        <p:txBody>
          <a:bodyPr>
            <a:normAutofit/>
          </a:bodyPr>
          <a:lstStyle/>
          <a:p>
            <a:endParaRPr lang="en-US" dirty="0"/>
          </a:p>
          <a:p>
            <a:endParaRPr lang="en-US" dirty="0"/>
          </a:p>
          <a:p>
            <a:endParaRPr lang="en-US" dirty="0"/>
          </a:p>
          <a:p>
            <a:endParaRPr lang="en-US" dirty="0"/>
          </a:p>
          <a:p>
            <a:r>
              <a:rPr dirty="0"/>
              <a:t>Presenters: </a:t>
            </a:r>
            <a:endParaRPr lang="en-US" dirty="0"/>
          </a:p>
          <a:p>
            <a:r>
              <a:rPr dirty="0"/>
              <a:t>Dishen Gajera (92500584033) </a:t>
            </a:r>
            <a:endParaRPr lang="en-US" dirty="0"/>
          </a:p>
          <a:p>
            <a:r>
              <a:rPr dirty="0"/>
              <a:t> Raj </a:t>
            </a:r>
            <a:r>
              <a:rPr dirty="0" err="1"/>
              <a:t>Vadaviya</a:t>
            </a:r>
            <a:r>
              <a:rPr dirty="0"/>
              <a:t> (92500584046)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Pr marL="0" indent="0">
              <a:buNone/>
            </a:pPr>
            <a:r>
              <a:rPr dirty="0"/>
              <a:t>• Introduction </a:t>
            </a:r>
            <a:r>
              <a:rPr lang="en-US" dirty="0"/>
              <a:t>&amp;</a:t>
            </a:r>
            <a:r>
              <a:rPr dirty="0"/>
              <a:t> Objectives</a:t>
            </a:r>
          </a:p>
          <a:p>
            <a:pPr marL="0" indent="0">
              <a:buNone/>
            </a:pPr>
            <a:r>
              <a:rPr dirty="0"/>
              <a:t>• Dataset Overview &amp; Preprocessing</a:t>
            </a:r>
          </a:p>
          <a:p>
            <a:pPr marL="0" indent="0">
              <a:buNone/>
            </a:pPr>
            <a:r>
              <a:rPr dirty="0"/>
              <a:t>• Analysis: Trading Volumes </a:t>
            </a:r>
            <a:endParaRPr lang="en-US" dirty="0"/>
          </a:p>
          <a:p>
            <a:pPr marL="0" indent="0">
              <a:buNone/>
            </a:pPr>
            <a:r>
              <a:rPr lang="en-US" dirty="0"/>
              <a:t>• Analysis: Price Trends </a:t>
            </a:r>
          </a:p>
          <a:p>
            <a:pPr marL="0" indent="0">
              <a:buNone/>
            </a:pPr>
            <a:r>
              <a:rPr dirty="0"/>
              <a:t>• Key Insights &amp; Results</a:t>
            </a:r>
          </a:p>
          <a:p>
            <a:pPr marL="0" indent="0">
              <a:buNone/>
            </a:pPr>
            <a:r>
              <a:rPr dirty="0"/>
              <a:t>• Limitations &amp;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 to the Project</a:t>
            </a:r>
          </a:p>
        </p:txBody>
      </p:sp>
      <p:sp>
        <p:nvSpPr>
          <p:cNvPr id="3" name="Content Placeholder 2"/>
          <p:cNvSpPr>
            <a:spLocks noGrp="1"/>
          </p:cNvSpPr>
          <p:nvPr>
            <p:ph idx="1"/>
          </p:nvPr>
        </p:nvSpPr>
        <p:spPr/>
        <p:txBody>
          <a:bodyPr/>
          <a:lstStyle/>
          <a:p>
            <a:pPr marL="0" indent="0" algn="just">
              <a:buNone/>
            </a:pPr>
            <a:r>
              <a:rPr dirty="0"/>
              <a:t>• Focuses on price fluctuations, trading volumes, and historical trends of major commodities in India.</a:t>
            </a:r>
          </a:p>
          <a:p>
            <a:pPr marL="0" indent="0" algn="just">
              <a:buNone/>
            </a:pPr>
            <a:r>
              <a:rPr dirty="0"/>
              <a:t>• Identifies key market behaviors and economic impacts of Gold, Silver, Crude Oil, and Copper.</a:t>
            </a:r>
          </a:p>
          <a:p>
            <a:pPr marL="0" indent="0" algn="just">
              <a:buNone/>
            </a:pPr>
            <a:r>
              <a:rPr dirty="0"/>
              <a:t>• Utilizes Python's powerful data visualization libraries.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Objectives of the Analysis</a:t>
            </a:r>
          </a:p>
        </p:txBody>
      </p:sp>
      <p:sp>
        <p:nvSpPr>
          <p:cNvPr id="3" name="Content Placeholder 2"/>
          <p:cNvSpPr>
            <a:spLocks noGrp="1"/>
          </p:cNvSpPr>
          <p:nvPr>
            <p:ph idx="1"/>
          </p:nvPr>
        </p:nvSpPr>
        <p:spPr/>
        <p:txBody>
          <a:bodyPr>
            <a:normAutofit/>
          </a:bodyPr>
          <a:lstStyle/>
          <a:p>
            <a:pPr marL="0" indent="0" algn="just">
              <a:buNone/>
            </a:pPr>
            <a:r>
              <a:rPr dirty="0"/>
              <a:t>• </a:t>
            </a:r>
            <a:r>
              <a:rPr b="1" dirty="0"/>
              <a:t>Assess Prices: </a:t>
            </a:r>
            <a:r>
              <a:rPr dirty="0"/>
              <a:t>Analyze Open, High, Low, and Close levels across multiple years.</a:t>
            </a:r>
            <a:endParaRPr lang="en-US" dirty="0"/>
          </a:p>
          <a:p>
            <a:pPr marL="0" indent="0" algn="just">
              <a:buNone/>
            </a:pPr>
            <a:r>
              <a:rPr lang="en-US" dirty="0"/>
              <a:t>• </a:t>
            </a:r>
            <a:r>
              <a:rPr lang="en-US" b="1" dirty="0"/>
              <a:t>Identify Trends: </a:t>
            </a:r>
            <a:r>
              <a:rPr lang="en-US" dirty="0"/>
              <a:t>Understand the distribution of trading volumes.</a:t>
            </a:r>
          </a:p>
          <a:p>
            <a:pPr marL="0" indent="0" algn="just">
              <a:buNone/>
            </a:pPr>
            <a:r>
              <a:rPr dirty="0"/>
              <a:t>• </a:t>
            </a:r>
            <a:r>
              <a:rPr b="1" dirty="0"/>
              <a:t>Temporal Analysis: </a:t>
            </a:r>
            <a:r>
              <a:rPr dirty="0"/>
              <a:t>Track year-wise and month-wise fluctuations.</a:t>
            </a:r>
          </a:p>
          <a:p>
            <a:pPr marL="0" indent="0" algn="just">
              <a:buNone/>
            </a:pPr>
            <a:r>
              <a:rPr dirty="0"/>
              <a:t>• </a:t>
            </a:r>
            <a:r>
              <a:rPr b="1" dirty="0"/>
              <a:t>Visual Discovery: </a:t>
            </a:r>
            <a:r>
              <a:rPr dirty="0"/>
              <a:t>Uncover hidden patterns using Python libraries like Pandas, Matplotlib, and Seaborn.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Overview</a:t>
            </a:r>
          </a:p>
        </p:txBody>
      </p:sp>
      <p:sp>
        <p:nvSpPr>
          <p:cNvPr id="3" name="Content Placeholder 2"/>
          <p:cNvSpPr>
            <a:spLocks noGrp="1"/>
          </p:cNvSpPr>
          <p:nvPr>
            <p:ph idx="1"/>
          </p:nvPr>
        </p:nvSpPr>
        <p:spPr/>
        <p:txBody>
          <a:bodyPr>
            <a:normAutofit/>
          </a:bodyPr>
          <a:lstStyle/>
          <a:p>
            <a:pPr marL="0" indent="0">
              <a:buNone/>
            </a:pPr>
            <a:r>
              <a:rPr dirty="0"/>
              <a:t>• </a:t>
            </a:r>
            <a:r>
              <a:rPr b="1" dirty="0"/>
              <a:t>File:</a:t>
            </a:r>
            <a:r>
              <a:rPr dirty="0"/>
              <a:t> commodities_indian_units.csv</a:t>
            </a:r>
          </a:p>
          <a:p>
            <a:pPr marL="0" indent="0">
              <a:buNone/>
            </a:pPr>
            <a:r>
              <a:rPr dirty="0"/>
              <a:t>• </a:t>
            </a:r>
            <a:r>
              <a:rPr b="1" dirty="0"/>
              <a:t>Source: </a:t>
            </a:r>
            <a:r>
              <a:rPr dirty="0"/>
              <a:t>Public financial databases and Kaggle.</a:t>
            </a:r>
          </a:p>
          <a:p>
            <a:pPr marL="0" indent="0">
              <a:buNone/>
            </a:pPr>
            <a:r>
              <a:rPr dirty="0"/>
              <a:t>• </a:t>
            </a:r>
            <a:r>
              <a:rPr b="1" dirty="0"/>
              <a:t>Key Features:</a:t>
            </a:r>
          </a:p>
          <a:p>
            <a:pPr marL="0" indent="0">
              <a:buNone/>
            </a:pPr>
            <a:r>
              <a:rPr dirty="0"/>
              <a:t>   - Date</a:t>
            </a:r>
          </a:p>
          <a:p>
            <a:pPr marL="0" indent="0">
              <a:buNone/>
            </a:pPr>
            <a:r>
              <a:rPr dirty="0"/>
              <a:t>   - Commodity (Categorical)</a:t>
            </a:r>
          </a:p>
          <a:p>
            <a:pPr marL="0" indent="0">
              <a:buNone/>
            </a:pPr>
            <a:r>
              <a:rPr dirty="0"/>
              <a:t>   - Open, High, Low, Close (Float)</a:t>
            </a:r>
          </a:p>
          <a:p>
            <a:pPr marL="0" indent="0">
              <a:buNone/>
            </a:pPr>
            <a:r>
              <a:rPr dirty="0"/>
              <a:t>   - Volume (Integer)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Preprocessing - Cleaning</a:t>
            </a:r>
          </a:p>
        </p:txBody>
      </p:sp>
      <p:sp>
        <p:nvSpPr>
          <p:cNvPr id="3" name="Content Placeholder 2"/>
          <p:cNvSpPr>
            <a:spLocks noGrp="1"/>
          </p:cNvSpPr>
          <p:nvPr>
            <p:ph idx="1"/>
          </p:nvPr>
        </p:nvSpPr>
        <p:spPr/>
        <p:txBody>
          <a:bodyPr>
            <a:normAutofit/>
          </a:bodyPr>
          <a:lstStyle/>
          <a:p>
            <a:pPr marL="0" indent="0">
              <a:buNone/>
            </a:pPr>
            <a:r>
              <a:rPr dirty="0"/>
              <a:t>• </a:t>
            </a:r>
            <a:r>
              <a:rPr b="1" dirty="0"/>
              <a:t>Missing Values: </a:t>
            </a:r>
            <a:r>
              <a:rPr dirty="0"/>
              <a:t>Replaced missing data in critical price columns using interpolation to maintain time-series continuity.</a:t>
            </a:r>
          </a:p>
          <a:p>
            <a:pPr marL="0" indent="0">
              <a:buNone/>
            </a:pPr>
            <a:r>
              <a:rPr dirty="0"/>
              <a:t>• </a:t>
            </a:r>
            <a:r>
              <a:rPr b="1" dirty="0"/>
              <a:t>Dropped Data: </a:t>
            </a:r>
            <a:r>
              <a:rPr dirty="0"/>
              <a:t>Removed dates where complete trading data was unavailable (e.g., market holidays).</a:t>
            </a:r>
          </a:p>
          <a:p>
            <a:pPr marL="0" indent="0">
              <a:buNone/>
            </a:pPr>
            <a:r>
              <a:rPr dirty="0"/>
              <a:t>• </a:t>
            </a:r>
            <a:r>
              <a:rPr b="1" dirty="0"/>
              <a:t>Outliers:</a:t>
            </a:r>
            <a:r>
              <a:rPr dirty="0"/>
              <a:t> Filtered out unrealistic spikes caused by reporting errors to maintain accuracy.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7187382" cy="1320800"/>
          </a:xfrm>
        </p:spPr>
        <p:txBody>
          <a:bodyPr>
            <a:normAutofit/>
          </a:bodyPr>
          <a:lstStyle/>
          <a:p>
            <a:r>
              <a:rPr dirty="0"/>
              <a:t>Data Preprocessing </a:t>
            </a:r>
            <a:r>
              <a:rPr lang="en-US" dirty="0"/>
              <a:t>- Transformation</a:t>
            </a:r>
            <a:endParaRPr dirty="0"/>
          </a:p>
        </p:txBody>
      </p:sp>
      <p:sp>
        <p:nvSpPr>
          <p:cNvPr id="3" name="Content Placeholder 2"/>
          <p:cNvSpPr>
            <a:spLocks noGrp="1"/>
          </p:cNvSpPr>
          <p:nvPr>
            <p:ph idx="1"/>
          </p:nvPr>
        </p:nvSpPr>
        <p:spPr/>
        <p:txBody>
          <a:bodyPr/>
          <a:lstStyle/>
          <a:p>
            <a:pPr marL="0" indent="0">
              <a:buNone/>
            </a:pPr>
            <a:r>
              <a:rPr dirty="0"/>
              <a:t>• </a:t>
            </a:r>
            <a:r>
              <a:rPr b="1" dirty="0"/>
              <a:t>Standardization: </a:t>
            </a:r>
            <a:r>
              <a:rPr dirty="0"/>
              <a:t>Converted string dates into Pandas Datetime objects (YYYY-MM-DD).</a:t>
            </a:r>
          </a:p>
          <a:p>
            <a:pPr marL="0" indent="0">
              <a:buNone/>
            </a:pPr>
            <a:r>
              <a:rPr dirty="0"/>
              <a:t>• </a:t>
            </a:r>
            <a:r>
              <a:rPr b="1" dirty="0"/>
              <a:t>Feature Engineering:</a:t>
            </a:r>
          </a:p>
          <a:p>
            <a:pPr marL="0" indent="0">
              <a:buNone/>
            </a:pPr>
            <a:r>
              <a:rPr dirty="0"/>
              <a:t>   - Year and Month extracted for seasonal grouping.</a:t>
            </a:r>
          </a:p>
          <a:p>
            <a:pPr marL="0" indent="0">
              <a:buNone/>
            </a:pPr>
            <a:r>
              <a:rPr dirty="0"/>
              <a:t>   - </a:t>
            </a:r>
            <a:r>
              <a:rPr dirty="0" err="1"/>
              <a:t>Price_Range</a:t>
            </a:r>
            <a:r>
              <a:rPr dirty="0"/>
              <a:t> calculated as (High - Low) to measure </a:t>
            </a:r>
            <a:r>
              <a:rPr lang="en-US" dirty="0"/>
              <a:t>	</a:t>
            </a:r>
            <a:r>
              <a:rPr dirty="0"/>
              <a:t>volatility.</a:t>
            </a:r>
          </a:p>
          <a:p>
            <a:pPr marL="0" indent="0">
              <a:buNone/>
            </a:pPr>
            <a:r>
              <a:rPr dirty="0"/>
              <a:t>   - </a:t>
            </a:r>
            <a:r>
              <a:rPr dirty="0" err="1"/>
              <a:t>Daily_Change</a:t>
            </a:r>
            <a:r>
              <a:rPr dirty="0"/>
              <a:t> calculated as (Close - Open).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Core Analysis</a:t>
            </a:r>
          </a:p>
        </p:txBody>
      </p:sp>
      <p:sp>
        <p:nvSpPr>
          <p:cNvPr id="3" name="Content Placeholder 2"/>
          <p:cNvSpPr>
            <a:spLocks noGrp="1"/>
          </p:cNvSpPr>
          <p:nvPr>
            <p:ph idx="1"/>
          </p:nvPr>
        </p:nvSpPr>
        <p:spPr/>
        <p:txBody>
          <a:bodyPr/>
          <a:lstStyle/>
          <a:p>
            <a:pPr marL="0" indent="0">
              <a:buNone/>
            </a:pPr>
            <a:r>
              <a:rPr dirty="0"/>
              <a:t>• Transitioning from data preparation to exploratory data analysis (EDA).</a:t>
            </a:r>
          </a:p>
          <a:p>
            <a:pPr marL="0" indent="0">
              <a:buNone/>
            </a:pPr>
            <a:r>
              <a:rPr dirty="0"/>
              <a:t>• Showcasing 4 primary problem statements focusing on Volume, Data Distribution, and Price Momentum.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Problem - Objective (Total Volume)</a:t>
            </a:r>
          </a:p>
        </p:txBody>
      </p:sp>
      <p:sp>
        <p:nvSpPr>
          <p:cNvPr id="3" name="Content Placeholder 2"/>
          <p:cNvSpPr>
            <a:spLocks noGrp="1"/>
          </p:cNvSpPr>
          <p:nvPr>
            <p:ph idx="1"/>
          </p:nvPr>
        </p:nvSpPr>
        <p:spPr/>
        <p:txBody>
          <a:bodyPr/>
          <a:lstStyle/>
          <a:p>
            <a:pPr marL="0" indent="0">
              <a:buNone/>
            </a:pPr>
            <a:r>
              <a:rPr dirty="0"/>
              <a:t>• </a:t>
            </a:r>
            <a:r>
              <a:rPr b="1" dirty="0"/>
              <a:t>Problem:</a:t>
            </a:r>
            <a:r>
              <a:rPr dirty="0"/>
              <a:t> Find and visualize the total Volume traded for each commodity.</a:t>
            </a:r>
          </a:p>
          <a:p>
            <a:pPr marL="0" indent="0">
              <a:buNone/>
            </a:pPr>
            <a:r>
              <a:rPr dirty="0"/>
              <a:t>• </a:t>
            </a:r>
            <a:r>
              <a:rPr b="1" dirty="0"/>
              <a:t>Goal:</a:t>
            </a:r>
          </a:p>
          <a:p>
            <a:pPr marL="0" indent="0">
              <a:buNone/>
            </a:pPr>
            <a:r>
              <a:rPr dirty="0"/>
              <a:t>   - Calculate total trading volume.</a:t>
            </a:r>
          </a:p>
          <a:p>
            <a:pPr marL="0" indent="0">
              <a:buNone/>
            </a:pPr>
            <a:r>
              <a:rPr dirty="0"/>
              <a:t>   - Analyze market liquidity.</a:t>
            </a:r>
          </a:p>
          <a:p>
            <a:pPr marL="0" indent="0">
              <a:buNone/>
            </a:pPr>
            <a:r>
              <a:rPr dirty="0"/>
              <a:t>   - Highlight the most actively traded market assets.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7B4AD4-7991-9EEC-7C09-2FC2AE2FDD35}"/>
              </a:ext>
            </a:extLst>
          </p:cNvPr>
          <p:cNvPicPr>
            <a:picLocks noChangeAspect="1"/>
          </p:cNvPicPr>
          <p:nvPr/>
        </p:nvPicPr>
        <p:blipFill>
          <a:blip r:embed="rId2"/>
          <a:stretch>
            <a:fillRect/>
          </a:stretch>
        </p:blipFill>
        <p:spPr>
          <a:xfrm>
            <a:off x="422728" y="1071716"/>
            <a:ext cx="8220665" cy="4670323"/>
          </a:xfrm>
          <a:prstGeom prst="rect">
            <a:avLst/>
          </a:prstGeom>
        </p:spPr>
      </p:pic>
    </p:spTree>
    <p:extLst>
      <p:ext uri="{BB962C8B-B14F-4D97-AF65-F5344CB8AC3E}">
        <p14:creationId xmlns:p14="http://schemas.microsoft.com/office/powerpoint/2010/main" val="3865268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0A48366-8AFA-8BD9-9D06-F15DBD407232}"/>
              </a:ext>
            </a:extLst>
          </p:cNvPr>
          <p:cNvPicPr>
            <a:picLocks noGrp="1" noChangeAspect="1"/>
          </p:cNvPicPr>
          <p:nvPr>
            <p:ph idx="1"/>
          </p:nvPr>
        </p:nvPicPr>
        <p:blipFill>
          <a:blip r:embed="rId2"/>
          <a:stretch>
            <a:fillRect/>
          </a:stretch>
        </p:blipFill>
        <p:spPr>
          <a:xfrm>
            <a:off x="350058" y="747251"/>
            <a:ext cx="8112598" cy="4613967"/>
          </a:xfrm>
          <a:prstGeom prst="rect">
            <a:avLst/>
          </a:prstGeom>
        </p:spPr>
      </p:pic>
    </p:spTree>
    <p:extLst>
      <p:ext uri="{BB962C8B-B14F-4D97-AF65-F5344CB8AC3E}">
        <p14:creationId xmlns:p14="http://schemas.microsoft.com/office/powerpoint/2010/main" val="2596636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Problem - Objective (Data Distribution)</a:t>
            </a:r>
          </a:p>
        </p:txBody>
      </p:sp>
      <p:sp>
        <p:nvSpPr>
          <p:cNvPr id="3" name="Content Placeholder 2"/>
          <p:cNvSpPr>
            <a:spLocks noGrp="1"/>
          </p:cNvSpPr>
          <p:nvPr>
            <p:ph idx="1"/>
          </p:nvPr>
        </p:nvSpPr>
        <p:spPr/>
        <p:txBody>
          <a:bodyPr/>
          <a:lstStyle/>
          <a:p>
            <a:pPr marL="0" indent="0">
              <a:buNone/>
            </a:pPr>
            <a:r>
              <a:rPr dirty="0"/>
              <a:t>• </a:t>
            </a:r>
            <a:r>
              <a:rPr b="1" dirty="0"/>
              <a:t>Problem:</a:t>
            </a:r>
            <a:r>
              <a:rPr dirty="0"/>
              <a:t> Count the total number of records available for each commodity.</a:t>
            </a:r>
          </a:p>
          <a:p>
            <a:pPr marL="0" indent="0">
              <a:buNone/>
            </a:pPr>
            <a:r>
              <a:rPr dirty="0"/>
              <a:t>• </a:t>
            </a:r>
            <a:r>
              <a:rPr b="1" dirty="0"/>
              <a:t>Goal:</a:t>
            </a:r>
          </a:p>
          <a:p>
            <a:pPr marL="0" indent="0">
              <a:buNone/>
            </a:pPr>
            <a:r>
              <a:rPr dirty="0"/>
              <a:t>   - Analyze data completeness.</a:t>
            </a:r>
          </a:p>
          <a:p>
            <a:pPr marL="0" indent="0">
              <a:buNone/>
            </a:pPr>
            <a:r>
              <a:rPr dirty="0"/>
              <a:t>   - Compare tracking history across different assets.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723E05-76D7-E8A0-C713-D6507678E26A}"/>
              </a:ext>
            </a:extLst>
          </p:cNvPr>
          <p:cNvPicPr>
            <a:picLocks noChangeAspect="1"/>
          </p:cNvPicPr>
          <p:nvPr/>
        </p:nvPicPr>
        <p:blipFill>
          <a:blip r:embed="rId2"/>
          <a:stretch>
            <a:fillRect/>
          </a:stretch>
        </p:blipFill>
        <p:spPr>
          <a:xfrm>
            <a:off x="289853" y="1278194"/>
            <a:ext cx="7635238" cy="3834972"/>
          </a:xfrm>
          <a:prstGeom prst="rect">
            <a:avLst/>
          </a:prstGeom>
        </p:spPr>
      </p:pic>
    </p:spTree>
    <p:extLst>
      <p:ext uri="{BB962C8B-B14F-4D97-AF65-F5344CB8AC3E}">
        <p14:creationId xmlns:p14="http://schemas.microsoft.com/office/powerpoint/2010/main" val="278355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DDB464-2138-3048-368D-CDB8E60248D7}"/>
              </a:ext>
            </a:extLst>
          </p:cNvPr>
          <p:cNvPicPr>
            <a:picLocks noChangeAspect="1"/>
          </p:cNvPicPr>
          <p:nvPr/>
        </p:nvPicPr>
        <p:blipFill>
          <a:blip r:embed="rId2"/>
          <a:stretch>
            <a:fillRect/>
          </a:stretch>
        </p:blipFill>
        <p:spPr>
          <a:xfrm>
            <a:off x="1532987" y="485096"/>
            <a:ext cx="6078025" cy="5747326"/>
          </a:xfrm>
          <a:prstGeom prst="rect">
            <a:avLst/>
          </a:prstGeom>
        </p:spPr>
      </p:pic>
    </p:spTree>
    <p:extLst>
      <p:ext uri="{BB962C8B-B14F-4D97-AF65-F5344CB8AC3E}">
        <p14:creationId xmlns:p14="http://schemas.microsoft.com/office/powerpoint/2010/main" val="990888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Problem - Objective (Gold Yearly Trend)</a:t>
            </a:r>
          </a:p>
        </p:txBody>
      </p:sp>
      <p:sp>
        <p:nvSpPr>
          <p:cNvPr id="3" name="Content Placeholder 2"/>
          <p:cNvSpPr>
            <a:spLocks noGrp="1"/>
          </p:cNvSpPr>
          <p:nvPr>
            <p:ph idx="1"/>
          </p:nvPr>
        </p:nvSpPr>
        <p:spPr/>
        <p:txBody>
          <a:bodyPr/>
          <a:lstStyle/>
          <a:p>
            <a:pPr marL="0" indent="0">
              <a:buNone/>
            </a:pPr>
            <a:r>
              <a:rPr dirty="0"/>
              <a:t>• </a:t>
            </a:r>
            <a:r>
              <a:rPr b="1" dirty="0"/>
              <a:t>Problem:</a:t>
            </a:r>
            <a:r>
              <a:rPr dirty="0"/>
              <a:t> Show the yearly trend of the Close price for Gold.</a:t>
            </a:r>
          </a:p>
          <a:p>
            <a:pPr marL="0" indent="0">
              <a:buNone/>
            </a:pPr>
            <a:r>
              <a:rPr dirty="0"/>
              <a:t>• </a:t>
            </a:r>
            <a:r>
              <a:rPr b="1" dirty="0"/>
              <a:t>Goal:</a:t>
            </a:r>
          </a:p>
          <a:p>
            <a:pPr marL="0" indent="0">
              <a:buNone/>
            </a:pPr>
            <a:r>
              <a:rPr dirty="0"/>
              <a:t>   - Track historical price appreciation of Gold over time.</a:t>
            </a:r>
          </a:p>
          <a:p>
            <a:pPr marL="0" indent="0">
              <a:buNone/>
            </a:pPr>
            <a:r>
              <a:rPr dirty="0"/>
              <a:t>   - Analyze long-term investment trends.</a:t>
            </a:r>
          </a:p>
          <a:p>
            <a:pPr marL="0" indent="0">
              <a:buNone/>
            </a:pPr>
            <a:r>
              <a:rPr dirty="0"/>
              <a:t>   - Highlight performance as a safe-haven asset.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164CF7-35CD-7840-DD25-1926F012AA66}"/>
              </a:ext>
            </a:extLst>
          </p:cNvPr>
          <p:cNvPicPr>
            <a:picLocks noChangeAspect="1"/>
          </p:cNvPicPr>
          <p:nvPr/>
        </p:nvPicPr>
        <p:blipFill>
          <a:blip r:embed="rId2"/>
          <a:stretch>
            <a:fillRect/>
          </a:stretch>
        </p:blipFill>
        <p:spPr>
          <a:xfrm>
            <a:off x="402336" y="1426464"/>
            <a:ext cx="8421490" cy="3962399"/>
          </a:xfrm>
          <a:prstGeom prst="rect">
            <a:avLst/>
          </a:prstGeom>
        </p:spPr>
      </p:pic>
    </p:spTree>
    <p:extLst>
      <p:ext uri="{BB962C8B-B14F-4D97-AF65-F5344CB8AC3E}">
        <p14:creationId xmlns:p14="http://schemas.microsoft.com/office/powerpoint/2010/main" val="1860798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404D21C-A5A1-093D-54EF-CA00DD7151A3}"/>
              </a:ext>
            </a:extLst>
          </p:cNvPr>
          <p:cNvPicPr>
            <a:picLocks noChangeAspect="1"/>
          </p:cNvPicPr>
          <p:nvPr/>
        </p:nvPicPr>
        <p:blipFill>
          <a:blip r:embed="rId2"/>
          <a:stretch>
            <a:fillRect/>
          </a:stretch>
        </p:blipFill>
        <p:spPr>
          <a:xfrm>
            <a:off x="342084" y="570272"/>
            <a:ext cx="8155292" cy="4445256"/>
          </a:xfrm>
          <a:prstGeom prst="rect">
            <a:avLst/>
          </a:prstGeom>
        </p:spPr>
      </p:pic>
    </p:spTree>
    <p:extLst>
      <p:ext uri="{BB962C8B-B14F-4D97-AF65-F5344CB8AC3E}">
        <p14:creationId xmlns:p14="http://schemas.microsoft.com/office/powerpoint/2010/main" val="1708953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Problem - </a:t>
            </a:r>
            <a:r>
              <a:rPr dirty="0"/>
              <a:t>Objective (Market-Wide Trends)</a:t>
            </a:r>
          </a:p>
        </p:txBody>
      </p:sp>
      <p:sp>
        <p:nvSpPr>
          <p:cNvPr id="3" name="Content Placeholder 2"/>
          <p:cNvSpPr>
            <a:spLocks noGrp="1"/>
          </p:cNvSpPr>
          <p:nvPr>
            <p:ph idx="1"/>
          </p:nvPr>
        </p:nvSpPr>
        <p:spPr/>
        <p:txBody>
          <a:bodyPr/>
          <a:lstStyle/>
          <a:p>
            <a:pPr marL="0" indent="0">
              <a:buNone/>
            </a:pPr>
            <a:r>
              <a:rPr dirty="0"/>
              <a:t>• </a:t>
            </a:r>
            <a:r>
              <a:rPr b="1" dirty="0"/>
              <a:t>Problem:</a:t>
            </a:r>
            <a:r>
              <a:rPr dirty="0"/>
              <a:t> Show the trend of average Close price across all commodities.</a:t>
            </a:r>
          </a:p>
          <a:p>
            <a:pPr marL="0" indent="0">
              <a:buNone/>
            </a:pPr>
            <a:r>
              <a:rPr dirty="0"/>
              <a:t>• </a:t>
            </a:r>
            <a:r>
              <a:rPr b="1" dirty="0"/>
              <a:t>Goal:</a:t>
            </a:r>
          </a:p>
          <a:p>
            <a:pPr marL="0" indent="0">
              <a:buNone/>
            </a:pPr>
            <a:r>
              <a:rPr dirty="0"/>
              <a:t>   - Compare the trajectory of final closing prices simultaneously.</a:t>
            </a:r>
          </a:p>
          <a:p>
            <a:pPr marL="0" indent="0">
              <a:buNone/>
            </a:pPr>
            <a:r>
              <a:rPr dirty="0"/>
              <a:t>   - Analyze parallel market behaviors and sector growth.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FFDD18-194F-8C29-F945-53C86FDC5D57}"/>
              </a:ext>
            </a:extLst>
          </p:cNvPr>
          <p:cNvPicPr>
            <a:picLocks noChangeAspect="1"/>
          </p:cNvPicPr>
          <p:nvPr/>
        </p:nvPicPr>
        <p:blipFill>
          <a:blip r:embed="rId2"/>
          <a:stretch>
            <a:fillRect/>
          </a:stretch>
        </p:blipFill>
        <p:spPr>
          <a:xfrm>
            <a:off x="390144" y="1341121"/>
            <a:ext cx="8083296" cy="3939942"/>
          </a:xfrm>
          <a:prstGeom prst="rect">
            <a:avLst/>
          </a:prstGeom>
        </p:spPr>
      </p:pic>
    </p:spTree>
    <p:extLst>
      <p:ext uri="{BB962C8B-B14F-4D97-AF65-F5344CB8AC3E}">
        <p14:creationId xmlns:p14="http://schemas.microsoft.com/office/powerpoint/2010/main" val="1981543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ABFF63-A40C-2BA1-65C9-0F099EB50407}"/>
              </a:ext>
            </a:extLst>
          </p:cNvPr>
          <p:cNvPicPr>
            <a:picLocks noChangeAspect="1"/>
          </p:cNvPicPr>
          <p:nvPr/>
        </p:nvPicPr>
        <p:blipFill>
          <a:blip r:embed="rId2"/>
          <a:stretch>
            <a:fillRect/>
          </a:stretch>
        </p:blipFill>
        <p:spPr>
          <a:xfrm>
            <a:off x="400050" y="1190625"/>
            <a:ext cx="8343900" cy="4476750"/>
          </a:xfrm>
          <a:prstGeom prst="rect">
            <a:avLst/>
          </a:prstGeom>
        </p:spPr>
      </p:pic>
    </p:spTree>
    <p:extLst>
      <p:ext uri="{BB962C8B-B14F-4D97-AF65-F5344CB8AC3E}">
        <p14:creationId xmlns:p14="http://schemas.microsoft.com/office/powerpoint/2010/main" val="42679815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Overall Market Insights</a:t>
            </a:r>
          </a:p>
        </p:txBody>
      </p:sp>
      <p:sp>
        <p:nvSpPr>
          <p:cNvPr id="3" name="Content Placeholder 2"/>
          <p:cNvSpPr>
            <a:spLocks noGrp="1"/>
          </p:cNvSpPr>
          <p:nvPr>
            <p:ph idx="1"/>
          </p:nvPr>
        </p:nvSpPr>
        <p:spPr/>
        <p:txBody>
          <a:bodyPr/>
          <a:lstStyle/>
          <a:p>
            <a:pPr marL="0" indent="0">
              <a:buNone/>
            </a:pPr>
            <a:r>
              <a:rPr dirty="0"/>
              <a:t>• </a:t>
            </a:r>
            <a:r>
              <a:rPr b="1" dirty="0"/>
              <a:t>Macroeconomic Impact: </a:t>
            </a:r>
            <a:r>
              <a:rPr dirty="0"/>
              <a:t>Outlier years highlight the extreme impact of global economic crises (panic buying/sell-offs).</a:t>
            </a:r>
          </a:p>
          <a:p>
            <a:pPr marL="0" indent="0">
              <a:buNone/>
            </a:pPr>
            <a:r>
              <a:rPr dirty="0"/>
              <a:t>• </a:t>
            </a:r>
            <a:r>
              <a:rPr b="1" dirty="0"/>
              <a:t>Sector Behavior: </a:t>
            </a:r>
            <a:r>
              <a:rPr dirty="0"/>
              <a:t>Industrial metals align closely with economic cycles, contrasting with the panic-driven spikes of precious metals.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of the Project</a:t>
            </a:r>
          </a:p>
        </p:txBody>
      </p:sp>
      <p:sp>
        <p:nvSpPr>
          <p:cNvPr id="3" name="Content Placeholder 2"/>
          <p:cNvSpPr>
            <a:spLocks noGrp="1"/>
          </p:cNvSpPr>
          <p:nvPr>
            <p:ph idx="1"/>
          </p:nvPr>
        </p:nvSpPr>
        <p:spPr/>
        <p:txBody>
          <a:bodyPr/>
          <a:lstStyle/>
          <a:p>
            <a:pPr marL="0" indent="0">
              <a:buNone/>
            </a:pPr>
            <a:r>
              <a:rPr b="1" dirty="0"/>
              <a:t>• External Variables:</a:t>
            </a:r>
            <a:r>
              <a:rPr dirty="0"/>
              <a:t> The dataset is limited to price and volume; it does not factor in breaking global news or sudden regulatory changes.</a:t>
            </a:r>
          </a:p>
          <a:p>
            <a:pPr marL="0" indent="0">
              <a:buNone/>
            </a:pPr>
            <a:r>
              <a:rPr dirty="0"/>
              <a:t>• </a:t>
            </a:r>
            <a:r>
              <a:rPr b="1" dirty="0"/>
              <a:t>Currency Impacts: </a:t>
            </a:r>
            <a:r>
              <a:rPr dirty="0"/>
              <a:t>We did not factor in USD/INR currency exchange rate fluctuations, which heavily impact domestic pricing.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Future Scope &amp; Recommendations</a:t>
            </a:r>
          </a:p>
        </p:txBody>
      </p:sp>
      <p:sp>
        <p:nvSpPr>
          <p:cNvPr id="3" name="Content Placeholder 2"/>
          <p:cNvSpPr>
            <a:spLocks noGrp="1"/>
          </p:cNvSpPr>
          <p:nvPr>
            <p:ph idx="1"/>
          </p:nvPr>
        </p:nvSpPr>
        <p:spPr/>
        <p:txBody>
          <a:bodyPr/>
          <a:lstStyle/>
          <a:p>
            <a:r>
              <a:rPr dirty="0"/>
              <a:t> </a:t>
            </a:r>
            <a:r>
              <a:rPr b="1" dirty="0"/>
              <a:t>Real-Time Data:</a:t>
            </a:r>
            <a:r>
              <a:rPr dirty="0"/>
              <a:t> Connecting to live APIs (NSE/MCX) for dynamic tracking.</a:t>
            </a:r>
          </a:p>
          <a:p>
            <a:r>
              <a:rPr b="1" dirty="0"/>
              <a:t> Predictive Modeling: </a:t>
            </a:r>
            <a:r>
              <a:rPr dirty="0"/>
              <a:t>Implementing Machine Learning (ARIMA/LSTM) to forecast future prices.</a:t>
            </a:r>
          </a:p>
          <a:p>
            <a:r>
              <a:rPr dirty="0"/>
              <a:t> </a:t>
            </a:r>
            <a:r>
              <a:rPr b="1" dirty="0"/>
              <a:t>Macro Overlay: </a:t>
            </a:r>
            <a:r>
              <a:rPr dirty="0"/>
              <a:t>Combining this data with inflation indices and currency rates for fundamental analysis.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marL="0" indent="0">
              <a:buNone/>
            </a:pPr>
            <a:r>
              <a:rPr dirty="0"/>
              <a:t>• The project successfully visualized extensive market data to empower investors and portfolio managers.</a:t>
            </a:r>
          </a:p>
          <a:p>
            <a:endParaRPr dirty="0"/>
          </a:p>
          <a:p>
            <a:r>
              <a:rPr dirty="0"/>
              <a:t>Thank You!</a:t>
            </a:r>
          </a:p>
          <a:p>
            <a:endParaRPr dirty="0"/>
          </a:p>
          <a:p>
            <a:r>
              <a:rPr dirty="0"/>
              <a:t>Any Questions?</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48</TotalTime>
  <Words>1327</Words>
  <Application>Microsoft Office PowerPoint</Application>
  <PresentationFormat>On-screen Show (4:3)</PresentationFormat>
  <Paragraphs>99</Paragraphs>
  <Slides>24</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Trebuchet MS</vt:lpstr>
      <vt:lpstr>Wingdings 3</vt:lpstr>
      <vt:lpstr>Facet</vt:lpstr>
      <vt:lpstr>Data Analysis on Indian Commodity Market Data</vt:lpstr>
      <vt:lpstr>Agenda</vt:lpstr>
      <vt:lpstr>Introduction to the Project</vt:lpstr>
      <vt:lpstr>Objectives of the Analysis</vt:lpstr>
      <vt:lpstr>Dataset Overview</vt:lpstr>
      <vt:lpstr>Data Preprocessing - Cleaning</vt:lpstr>
      <vt:lpstr>Data Preprocessing - Transformation</vt:lpstr>
      <vt:lpstr>Introduction to Core Analysis</vt:lpstr>
      <vt:lpstr>Problem - Objective (Total Volume)</vt:lpstr>
      <vt:lpstr>PowerPoint Presentation</vt:lpstr>
      <vt:lpstr>PowerPoint Presentation</vt:lpstr>
      <vt:lpstr>Problem - Objective (Data Distribution)</vt:lpstr>
      <vt:lpstr>PowerPoint Presentation</vt:lpstr>
      <vt:lpstr>PowerPoint Presentation</vt:lpstr>
      <vt:lpstr>Problem - Objective (Gold Yearly Trend)</vt:lpstr>
      <vt:lpstr>PowerPoint Presentation</vt:lpstr>
      <vt:lpstr>PowerPoint Presentation</vt:lpstr>
      <vt:lpstr>Problem - Objective (Market-Wide Trends)</vt:lpstr>
      <vt:lpstr>PowerPoint Presentation</vt:lpstr>
      <vt:lpstr>PowerPoint Presentation</vt:lpstr>
      <vt:lpstr>Overall Market Insights</vt:lpstr>
      <vt:lpstr>Limitations of the Project</vt:lpstr>
      <vt:lpstr>Future Scope &amp; Recommendations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dishen gajera</cp:lastModifiedBy>
  <cp:revision>8</cp:revision>
  <dcterms:created xsi:type="dcterms:W3CDTF">2013-01-27T09:14:16Z</dcterms:created>
  <dcterms:modified xsi:type="dcterms:W3CDTF">2026-04-07T08:44:07Z</dcterms:modified>
  <cp:category/>
</cp:coreProperties>
</file>